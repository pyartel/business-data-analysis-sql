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 Users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0</c:v>
                  </c:pt>
                  <c:pt idx="1">
                    <c:v>Month 1</c:v>
                  </c:pt>
                  <c:pt idx="2">
                    <c:v>Month 2</c:v>
                  </c:pt>
                  <c:pt idx="3">
                    <c:v>Month 3</c:v>
                  </c:pt>
                  <c:pt idx="4">
                    <c:v>Month 4</c:v>
                  </c:pt>
                  <c:pt idx="5">
                    <c:v>Month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79</c:v>
                </c:pt>
                <c:pt idx="2">
                  <c:v>76</c:v>
                </c:pt>
                <c:pt idx="3">
                  <c:v>72</c:v>
                </c:pt>
                <c:pt idx="4">
                  <c:v>65</c:v>
                </c:pt>
                <c:pt idx="5">
                  <c:v>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Promotional Users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0</c:v>
                  </c:pt>
                  <c:pt idx="1">
                    <c:v>Month 1</c:v>
                  </c:pt>
                  <c:pt idx="2">
                    <c:v>Month 2</c:v>
                  </c:pt>
                  <c:pt idx="3">
                    <c:v>Month 3</c:v>
                  </c:pt>
                  <c:pt idx="4">
                    <c:v>Month 4</c:v>
                  </c:pt>
                  <c:pt idx="5">
                    <c:v>Month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56</c:v>
                </c:pt>
                <c:pt idx="2">
                  <c:v>42</c:v>
                </c:pt>
                <c:pt idx="3">
                  <c:v>25</c:v>
                </c:pt>
                <c:pt idx="4">
                  <c:v>19</c:v>
                </c:pt>
                <c:pt idx="5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Retention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286000" cy="228600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566160"/>
            <a:ext cx="2377440" cy="23774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COHORT ANALYTICS  ·  CASE STUDY  · 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Acquisition Channels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User Retention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 Cohort-Based Analytics Case Study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77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07792" y="39776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3977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Cohort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01184" y="39776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3977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Retention Analytics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94576" y="39776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977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Intelligence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</a:rPr>
              <a:t>DATA ANALYST PORTFOLIO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601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92608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</a:rPr>
              <a:t>Cohorts Analyzed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92608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Jan–Jun 2025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59736" y="868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9601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59736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2459736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</a:rPr>
              <a:t>Acquisition Channels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459736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Organic &amp; Promo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26864" y="868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9601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26864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4626864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</a:rPr>
              <a:t>Retention Horizon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626864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Months tracked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793992" y="868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9601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93992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1,527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6793992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</a:rPr>
              <a:t>Total Observations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793992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User-month events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457200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</a:rPr>
              <a:t>PROJECT OBJECTIVE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28529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044"/>
                </a:solidFill>
              </a:rPr>
              <a:t>Quantify the long-term retention impact of organic vs. promotional user acquisition to guide channel investment decisions and improve lifetime customer value.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5488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</a:rPr>
              <a:t>KEY FINDINGS</a:t>
            </a:r>
            <a:endParaRPr lang="en-US" sz="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798064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47488" y="2761488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</a:rPr>
              <a:t>Organic users retain at 55–83% through Month 1; promo users drop to 47–62%</a:t>
            </a:r>
            <a:endParaRPr lang="en-US" sz="10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182112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47488" y="3145536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</a:rPr>
              <a:t>Promo cohorts show up to 3× faster decay after Month 2</a:t>
            </a:r>
            <a:endParaRPr lang="en-US" sz="10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56616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047488" y="3529584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</a:rPr>
              <a:t>Organic channels generate significantly higher long-term user value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457200" y="3913632"/>
            <a:ext cx="8229600" cy="804672"/>
          </a:xfrm>
          <a:prstGeom prst="roundRect">
            <a:avLst>
              <a:gd name="adj" fmla="val 7955"/>
            </a:avLst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40080" y="395020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044"/>
                </a:solidFill>
              </a:rPr>
              <a:t>BUSINESS IMPACT  ·  </a:t>
            </a:r>
            <a:pPr algn="l" indent="0" marL="0">
              <a:buNone/>
            </a:pPr>
            <a:r>
              <a:rPr lang="en-US" sz="1150" dirty="0">
                <a:solidFill>
                  <a:srgbClr val="0F2044"/>
                </a:solidFill>
              </a:rPr>
              <a:t>Retention performance suggests that organic channels may generate more sustainable user engagement.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THE BUSINESS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Retention Is the Most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Growth Metric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Acquiring a new user costs 5–7× more than retaining an existing one. Yet most growth teams optimize for acquisition volume rather than quality — leading to cohorts that churn rapidly, inflating CAC and suppressing LTV.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99923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ACQUISITION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340156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70048" y="2999232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0A7A8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0048" y="299923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8848" y="340156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91456" y="2999232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91456" y="299923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0256" y="340156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2864" y="2999232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05B8A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12864" y="299923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LIFETIME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622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This project focuses on the Retention stage — identifying which acquisition channels produce users who stay.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1719072"/>
          </a:xfrm>
          <a:prstGeom prst="roundRect">
            <a:avLst>
              <a:gd name="adj" fmla="val 4255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41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cohort_users_raw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71016"/>
            <a:ext cx="384048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44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·  PK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promo_signup_flag  ·  0/1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signup_datetime  ·  dirty timestamp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3840480" cy="1719072"/>
          </a:xfrm>
          <a:prstGeom prst="roundRect">
            <a:avLst>
              <a:gd name="adj" fmla="val 425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907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cohort_events_raw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36976"/>
            <a:ext cx="384048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·  FK → users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  ·  activity category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event_datetime  ·  dirty timestamp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15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 ·  optional float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4114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069848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93792" y="9601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Time Horizon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93792" y="121615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Jan – Jun 2025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1856232"/>
            <a:ext cx="4114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5740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93792" y="19476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Cohort Definition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193792" y="220370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Month of first signup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63440" y="2843784"/>
            <a:ext cx="4114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44952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93792" y="29352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Segmentation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193792" y="319125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promo_signup_flag (0=Organic / 1=Promo)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663440" y="3831336"/>
            <a:ext cx="4114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032504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193792" y="392277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Date Cleaning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193792" y="417880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Multi-format normalization in SQL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663440" y="457200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75488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Total sample: 1,527 user-month observations across 6 cohorts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SQL TRANSFORMATION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Events to Retention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Raw Events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4632" y="1700784"/>
            <a:ext cx="1609344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739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cohort_users_raw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cohort_events_raw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58568" y="180136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298448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716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Date Cleaning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33472" y="1700784"/>
            <a:ext cx="1609344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7739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replace() + split_part()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Unified DD-MM-YY(YY) format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07408" y="180136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1298448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067A9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3716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Transformation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82312" y="1700784"/>
            <a:ext cx="1609344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739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to_timestamp() parsing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CTE: users_clean, events_clean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56248" y="180136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298448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3716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Cohort Assignment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31152" y="1700784"/>
            <a:ext cx="1609344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7739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date_trunc('month', signup)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Group by cohort_month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90688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▼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38544" y="3017520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38544" y="30906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Month Offset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03136" y="3419856"/>
            <a:ext cx="1609344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349300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age() → year×12 + month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Relative activity window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28232" y="35204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89704" y="3017520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9704" y="30906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Retention Matrix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54296" y="3419856"/>
            <a:ext cx="1609344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9704" y="349300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JOIN on user_id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COUNT DISTINCT 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79392" y="35204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◀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340864" y="3017520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340864" y="30906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Business Insights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05456" y="3419856"/>
            <a:ext cx="1609344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40864" y="349300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Promo vs Organic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Retention curves &amp; heatmap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Key SQL patterns: CTEs  ·  CASE / to_timestamp()  ·  date_trunc()  ·  age()  ·  COUNT DISTINCT  ·  JOIN + GROUP BY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COHORT ANALYSIS METHODOLOGY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2651760" cy="3364992"/>
          </a:xfrm>
          <a:prstGeom prst="roundRect">
            <a:avLst>
              <a:gd name="adj" fmla="val 3103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4447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Cohort?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" y="1901952"/>
            <a:ext cx="2103120" cy="27432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1993392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A cohort is a group of users who share a common characteristic within a defined time period. In this project, cohorts are defined by the calendar month a user signed up — enabling like-for-like behavioral comparisons.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868680"/>
            <a:ext cx="2651760" cy="3364992"/>
          </a:xfrm>
          <a:prstGeom prst="roundRect">
            <a:avLst>
              <a:gd name="adj" fmla="val 310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005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4447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Cohort Analysis?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474720" y="1901952"/>
            <a:ext cx="2103120" cy="27432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4992" y="1993392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Aggregate retention metrics mask quality differences between user segments. Cohort analysis isolates the signal — allowing teams to see exactly when and why users churn, by acquisition source.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53328" y="868680"/>
            <a:ext cx="2651760" cy="3364992"/>
          </a:xfrm>
          <a:prstGeom prst="roundRect">
            <a:avLst>
              <a:gd name="adj" fmla="val 3103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005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53328" y="14447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Retention Was Calculated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327648" y="1901952"/>
            <a:ext cx="2103120" cy="27432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217920" y="1993392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Retention Rate (Month N) = Distinct active users in Month N ÷ Distinct users in Month 0. Active = any non-test event recorded. Month offset is derived from the difference between event_month and cohort_month.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47472" y="4389120"/>
            <a:ext cx="8449056" cy="530352"/>
          </a:xfrm>
          <a:prstGeom prst="roundRect">
            <a:avLst>
              <a:gd name="adj" fmla="val 12069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57200" y="44074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Retention(N) = COUNT DISTINCT(active users in Month N)  ÷  COUNT DISTINCT(users in Month 0)  ×  100%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RETENTION HEATMAP  —  ORGANIC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807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950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93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36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79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Jan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0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0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43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83%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86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77%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9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2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61%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15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56%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17556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Feb 2025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00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0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43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3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73%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86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76%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9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9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78%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72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68%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15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15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230428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Mar 2025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00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00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43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43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86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86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92%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29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9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72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15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5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" y="28529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Apr 2025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700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00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843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43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82%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86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86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77%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129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9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272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15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15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65760" y="340156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May 2025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700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00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843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43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87%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986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86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129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9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272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72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15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15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365760" y="39502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Jun 2025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700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00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843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43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986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86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5129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9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272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72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415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15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347472" y="4617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RETENTION SCALE: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69164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2938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100% (base)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92608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6382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≥ 80%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16052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9826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65–79%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39496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3270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50–64%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62940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6714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35–49%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86384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0158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&lt; 35%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RETENTION HEATMAP  —  PROMOTIONAL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807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950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93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36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79208" y="822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Month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Jan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0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0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43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62%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86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9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2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18%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15784" y="12435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784" y="12435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17556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Feb 2025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00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0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43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3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59%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86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42%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9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9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32%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72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15784" y="179222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15784" y="179222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230428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Mar 2025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00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00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43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43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58%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86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86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45%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29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9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36%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72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15784" y="234086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5784" y="234086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" y="28529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Apr 2025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700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00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843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43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55%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86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86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32%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129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9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272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15784" y="288950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15784" y="28895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65760" y="340156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May 2025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700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00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843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43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47%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986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86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129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9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272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72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15784" y="343814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15784" y="343814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365760" y="39502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Jun 2025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700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00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 (base)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843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43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986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86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5129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9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272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72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415784" y="3986784"/>
            <a:ext cx="1069848" cy="475488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15784" y="398678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347472" y="4617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RETENTION SCALE: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69164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2938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100% (base)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92608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6382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≥ 80%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16052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9826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65–79%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39496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3270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50–64%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62940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6714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35–49%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863840" y="4645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01584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&lt; 35%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47472" y="4818888"/>
            <a:ext cx="8449056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8912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 Jan 2025 cohort drops to just 9% retention at Month 3 — the most severe decay across all cohorts in this study.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ORGANIC vs. PROMOTIONAL  —  RETENTION COMPARISON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8686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914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Retention Gap at Month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0" y="1188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+47 pp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0" y="16642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Organic vs. Promotional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23560" y="2103120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21396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</a:rPr>
              <a:t>Organic M1 Avg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79%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23560" y="2880360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2916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</a:rPr>
              <a:t>Promo M1 Avg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56%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623560" y="3657600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3694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</a:rPr>
              <a:t>Month 5 Gap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0" y="3931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39 pp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Average retention rates weighted across all cohorts with sufficient data. Promo users show 2–3× faster decay than organic.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160520" cy="1572768"/>
          </a:xfrm>
          <a:prstGeom prst="roundRect">
            <a:avLst>
              <a:gd name="adj" fmla="val 52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" y="16733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Organic Users Retain Significantly Better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2064" y="20574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Organic cohorts average 79% retention at Month 1 and maintain 48–65% through Months 4–5. This is consistent across all six cohorts analyzed, indicating structural — not seasonal — quality.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60520" cy="1572768"/>
          </a:xfrm>
          <a:prstGeom prst="roundRect">
            <a:avLst>
              <a:gd name="adj" fmla="val 52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16733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Promotional Users Churn Rapidly After Month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9472" y="20574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Promo cohorts drop from 56% at Month 1 to just 25% by Month 3 — a 55% relative decline. The Jan 2025 cohort reached a critical low of 9% by Month 3, signaling near-complete audience loss.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926080"/>
            <a:ext cx="4160520" cy="1572768"/>
          </a:xfrm>
          <a:prstGeom prst="roundRect">
            <a:avLst>
              <a:gd name="adj" fmla="val 52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" y="3364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The Retention Gap Widens Over Time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" y="37490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The differential between organic and promo retention compounds. At Month 1 the gap is ~23 pp; by Month 5 it reaches ~39 pp. This indicates promo users are transactional, not engaged.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60520" cy="1572768"/>
          </a:xfrm>
          <a:prstGeom prst="roundRect">
            <a:avLst>
              <a:gd name="adj" fmla="val 52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19472" y="3364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Channel Quality Outweighs Channel Volume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9472" y="37490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Despite promo channels generating meaningful early volume (41–47 users/cohort at M0), the rapid decay means they contribute disproportionately low long-term value — reducing LTV/CAC 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BUSINESS RECOMMENDATIONS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365760"/>
          </a:xfrm>
          <a:prstGeom prst="roundRect">
            <a:avLst>
              <a:gd name="adj" fmla="val 12500"/>
            </a:avLst>
          </a:prstGeom>
          <a:solidFill>
            <a:srgbClr val="162B58"/>
          </a:solidFill>
          <a:ln w="12700">
            <a:solidFill>
              <a:srgbClr val="162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804672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162B58"/>
          </a:solidFill>
          <a:ln w="12700">
            <a:solidFill>
              <a:srgbClr val="162B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804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Expected 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59168" y="804672"/>
            <a:ext cx="1664208" cy="365760"/>
          </a:xfrm>
          <a:prstGeom prst="roundRect">
            <a:avLst>
              <a:gd name="adj" fmla="val 12500"/>
            </a:avLst>
          </a:prstGeom>
          <a:solidFill>
            <a:srgbClr val="162B58"/>
          </a:solidFill>
          <a:ln w="12700">
            <a:solidFill>
              <a:srgbClr val="162B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80467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298448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Shift budget allocation from promo to organic acquisition channels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143560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4356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▲ LTV/CAC by 2–3×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95744" y="1435608"/>
            <a:ext cx="1591056" cy="457200"/>
          </a:xfrm>
          <a:prstGeom prst="roundRect">
            <a:avLst>
              <a:gd name="adj" fmla="val 10000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5744" y="14356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Medium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167128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67128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Redesign promo campaigns with quality-based targeting criteria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23042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3042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▲ M1 retention by 15–25%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95744" y="2304288"/>
            <a:ext cx="1591056" cy="457200"/>
          </a:xfrm>
          <a:prstGeom prst="roundRect">
            <a:avLst>
              <a:gd name="adj" fmla="val 10000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23042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High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035808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Implement cohort-based early warning alerts for promo users showing low M1 activity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317296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1729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Reduce M3 churn by ~30%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95744" y="3172968"/>
            <a:ext cx="1591056" cy="457200"/>
          </a:xfrm>
          <a:prstGeom prst="roundRect">
            <a:avLst>
              <a:gd name="adj" fmla="val 10000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95744" y="317296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Medium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04488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904488"/>
            <a:ext cx="41148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Develop dedicated re-engagement programs for promo cohorts at Month 2–3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404164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404164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Extend retention window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95744" y="4041648"/>
            <a:ext cx="1591056" cy="457200"/>
          </a:xfrm>
          <a:prstGeom prst="roundRect">
            <a:avLst>
              <a:gd name="adj" fmla="val 10000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WHAT WOULD BE ANALYZED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the Analytical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2743200" cy="1572768"/>
          </a:xfrm>
          <a:prstGeom prst="roundRect">
            <a:avLst>
              <a:gd name="adj" fmla="val 5233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9903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99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Modeling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2064" y="1783080"/>
            <a:ext cx="24231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1874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Calculate Customer Lifetime Value by channel. Pair with CAC data to derive true channel profitability and inform budget allocation.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743200" cy="1572768"/>
          </a:xfrm>
          <a:prstGeom prst="roundRect">
            <a:avLst>
              <a:gd name="adj" fmla="val 5233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990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58768" y="1399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56432" y="1783080"/>
            <a:ext cx="24231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56432" y="1874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Build an ML model (logistic regression or gradient boosting) trained on early signals to predict Month 3+ churn at the individual user level.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6208" y="1234440"/>
            <a:ext cx="2743200" cy="1572768"/>
          </a:xfrm>
          <a:prstGeom prst="roundRect">
            <a:avLst>
              <a:gd name="adj" fmla="val 5233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9903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03136" y="1399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Segmentation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0" y="1783080"/>
            <a:ext cx="24231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0" y="1874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Cluster users by behavioral patterns (RFM or k-means) to identify high-value micro-segments and personalize re-engagement strategies.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47472" y="2990088"/>
            <a:ext cx="2743200" cy="1572768"/>
          </a:xfrm>
          <a:prstGeom prst="roundRect">
            <a:avLst>
              <a:gd name="adj" fmla="val 5233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1546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154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Analysis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12064" y="3538728"/>
            <a:ext cx="24231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12064" y="36301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Measure drop-off at each activation step post-signup to identify onboarding friction, especially for promo users.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990088"/>
            <a:ext cx="2743200" cy="1572768"/>
          </a:xfrm>
          <a:prstGeom prst="roundRect">
            <a:avLst>
              <a:gd name="adj" fmla="val 5233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1546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58768" y="3154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Drivers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3456432" y="3538728"/>
            <a:ext cx="24231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456432" y="36301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Correlate early in-app actions with long-term retention to identify 'aha moments' — actions that predict stickiness.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36208" y="2990088"/>
            <a:ext cx="2743200" cy="1572768"/>
          </a:xfrm>
          <a:prstGeom prst="roundRect">
            <a:avLst>
              <a:gd name="adj" fmla="val 5233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546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03136" y="3154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 Attribution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400800" y="3538728"/>
            <a:ext cx="24231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400800" y="36301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Integrate spend data by channel to compute CAC, then model LTV:CAC ratio to set sustainable acquisition budgets.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TECHNICAL SKILLS DEMONSTRATED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69664" cy="1920240"/>
          </a:xfrm>
          <a:prstGeom prst="roundRect">
            <a:avLst>
              <a:gd name="adj" fmla="val 4286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365760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081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081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Advanced SQL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4081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14081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CTEs &amp; Subqueries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99816" y="14081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4081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Date Normalization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883664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836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Multi-format Parsing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01368" y="1883664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1368" y="18836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Joins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27448" y="841248"/>
            <a:ext cx="4169664" cy="1920240"/>
          </a:xfrm>
          <a:prstGeom prst="roundRect">
            <a:avLst>
              <a:gd name="adj" fmla="val 428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0328" y="932688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0328" y="1298448"/>
            <a:ext cx="365760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0328" y="14081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4081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Cohort Analysis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08776" y="14081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4081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Retention Analytics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07224" y="14081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7224" y="14081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KPI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0328" y="1883664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18836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Channel Attribution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08776" y="1883664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18836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Behavioral 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926080"/>
            <a:ext cx="4169664" cy="1920240"/>
          </a:xfrm>
          <a:prstGeom prst="roundRect">
            <a:avLst>
              <a:gd name="adj" fmla="val 4286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301752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&amp; BI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3383280"/>
            <a:ext cx="365760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493008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Heatmap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01368" y="3493008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01368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Trend Analysis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99816" y="3493008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99816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Storytelling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396849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68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Executive Reporting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01368" y="396849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01368" y="3968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 Design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27448" y="2926080"/>
            <a:ext cx="4169664" cy="1920240"/>
          </a:xfrm>
          <a:prstGeom prst="roundRect">
            <a:avLst>
              <a:gd name="adj" fmla="val 428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10328" y="301752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Acumen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910328" y="3383280"/>
            <a:ext cx="365760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10328" y="3493008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0328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LTV / CAC Framing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08776" y="3493008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08776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Churn Analysis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07224" y="3493008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07224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Growth Analytics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10328" y="396849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3968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Strategic Recommendations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08776" y="396849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08776" y="3968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Stakeholder Communication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4681728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TOOLS  ·  PostgreSQL / BigQuery  ·  Google Sheets  ·  Excel  ·  Pivot Tables  ·  Conditional Formatting  ·  Power BI / Tableau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</a:rPr>
              <a:t>PROJECT OUTCOME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Strategic Clarity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743200" cy="2304288"/>
          </a:xfrm>
          <a:prstGeom prst="roundRect">
            <a:avLst>
              <a:gd name="adj" fmla="val 3571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5727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395728"/>
            <a:ext cx="21945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2487168"/>
            <a:ext cx="2423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Identified significant engagement disparities between organic and promotional cohorts — providing a clear signal for channel strategy refinement.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0128" y="1463040"/>
            <a:ext cx="2743200" cy="2304288"/>
          </a:xfrm>
          <a:prstGeom prst="roundRect">
            <a:avLst>
              <a:gd name="adj" fmla="val 3571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727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584448" y="2395728"/>
            <a:ext cx="21945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2487168"/>
            <a:ext cx="2423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Acquisition volume is a vanity metric without retention quality. Channel analysis must be cohort-based to surface true LTV impact.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54496" y="1463040"/>
            <a:ext cx="2743200" cy="2304288"/>
          </a:xfrm>
          <a:prstGeom prst="roundRect">
            <a:avLst>
              <a:gd name="adj" fmla="val 3571"/>
            </a:avLst>
          </a:prstGeom>
          <a:solidFill>
            <a:srgbClr val="162B5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15727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Applications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528816" y="2395728"/>
            <a:ext cx="2194560" cy="18288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19088" y="2487168"/>
            <a:ext cx="2423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Framework can be extended to LTV modeling, churn prediction, and real-time retention dashboards for continuous optimization.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286000" y="3931920"/>
            <a:ext cx="45720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cohort data into channel strategy.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14400" y="4572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891B2"/>
                </a:solidFill>
              </a:rPr>
              <a:t>SQL  ·  Cohort Analysis  ·  Retention Analytics  ·  Business 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Acquisition Channels Impact User Retention</dc:title>
  <dc:subject>PptxGenJS Presentation</dc:subject>
  <dc:creator>Cohort Analytics Case Study</dc:creator>
  <cp:lastModifiedBy>Cohort Analytics Case Study</cp:lastModifiedBy>
  <cp:revision>1</cp:revision>
  <dcterms:created xsi:type="dcterms:W3CDTF">2026-06-10T10:56:22Z</dcterms:created>
  <dcterms:modified xsi:type="dcterms:W3CDTF">2026-06-10T10:56:22Z</dcterms:modified>
</cp:coreProperties>
</file>